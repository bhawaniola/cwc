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5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— THE PROBLEM, THE PEOPLE, THE IMPACT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10253C"/>
          </a:solidFill>
          <a:ln w="15875">
            <a:solidFill>
              <a:srgbClr val="4ADE8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THEME — DISASTER RESPONSE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567160" cy="1051560"/>
          </a:xfrm>
          <a:prstGeom prst="roundRect">
            <a:avLst>
              <a:gd name="adj" fmla="val 4348"/>
            </a:avLst>
          </a:prstGeom>
          <a:solidFill>
            <a:srgbClr val="10253C"/>
          </a:solidFill>
          <a:ln w="15875">
            <a:solidFill>
              <a:srgbClr val="E0525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when disaster strikes, the network is the first casualty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Floods drown towers, earthquakes snap fiber, grids trip. Every emergency system quietly assumes connectivity — so the moment people most need to cry for help is the exact moment they cannot. That assumption costs lives.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5532120" cy="3063240"/>
          </a:xfrm>
          <a:prstGeom prst="roundRect">
            <a:avLst>
              <a:gd name="adj" fmla="val 2388"/>
            </a:avLst>
          </a:prstGeom>
          <a:solidFill>
            <a:srgbClr val="0D1B2E"/>
          </a:solidFill>
          <a:ln w="22225">
            <a:solidFill>
              <a:srgbClr val="9BD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25856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BD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— TWO SIDES OF THE SAME EMERGENCY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50749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inside the disaster zone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signal, no internet, any of X number of languages — they need one working way to say “help” and proof it was heard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66160"/>
            <a:ext cx="50749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EOC operators in the safe zone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 live, truthful map: who is islanded, what is queued, which links are dying — before they die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4480560"/>
            <a:ext cx="5074920" cy="640080"/>
          </a:xfrm>
          <a:prstGeom prst="roundRect">
            <a:avLst>
              <a:gd name="adj" fmla="val 714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responder coordinators (guilds)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· fire · shelters · workforce · flood rescue — each needs only ITS requests, with evidence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2194560"/>
            <a:ext cx="5669280" cy="3063240"/>
          </a:xfrm>
          <a:prstGeom prst="roundRect">
            <a:avLst>
              <a:gd name="adj" fmla="val 2388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2258568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— WHAT CHANGES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2560320" cy="1097280"/>
          </a:xfrm>
          <a:prstGeom prst="roundRect">
            <a:avLst>
              <a:gd name="adj" fmla="val 41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LOST SOS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cry persists on disk before any send — delayed, rerouted, relayed… never lost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5440" y="2651760"/>
            <a:ext cx="2468880" cy="1097280"/>
          </a:xfrm>
          <a:prstGeom prst="roundRect">
            <a:avLst>
              <a:gd name="adj" fmla="val 41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NOT HOURS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auto-classification routes each SOS to the right responders instantly — no human dispatcher bottleneck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886200"/>
            <a:ext cx="2560320" cy="1097280"/>
          </a:xfrm>
          <a:prstGeom prst="roundRect">
            <a:avLst>
              <a:gd name="adj" fmla="val 41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FORGED ORDERS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Ed25519-signed alerts verify offline — misinformation dies at the pod, even with zero connectivity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35440" y="3886200"/>
            <a:ext cx="2468880" cy="1097280"/>
          </a:xfrm>
          <a:prstGeom prst="roundRect">
            <a:avLst>
              <a:gd name="adj" fmla="val 41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LEFT OUT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understood in 11 Indian languages — severity heard the same in every 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5577840"/>
            <a:ext cx="1156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resilient SOS network for the hours when the internet is gone — built and demoed as a working 14-service system, not a mock-up.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355080"/>
            <a:ext cx="1156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CSR Hackathon · Capture the Silver Flag · Team SAA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&amp; THE USER FLOW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56716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4ADE8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 — pre-deployed field pods that soak up SOS offline and hunt for any surviving path to the cloud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→ cellular → pod-to-pod mesh → island mode: a 4-tier ladder that treats zero connectivity as a supported state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11567160" cy="2651760"/>
          </a:xfrm>
          <a:prstGeom prst="roundRect">
            <a:avLst>
              <a:gd name="adj" fmla="val 2759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755648"/>
            <a:ext cx="1134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FLOW — FROM “NO SIGNAL” TO A BOAT DISPATCHED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pod Wi-Fi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SSID — no internet, no password, no app install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956816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2560320"/>
            <a:ext cx="2743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474720" y="21031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SOS in your language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“पानी बिस्तर तक आ गया” — voice of the victim, any of 11 scripts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37560" y="1956816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2560320"/>
            <a:ext cx="2743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309360" y="21031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Triaged &amp; queued offline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9 in one heartbeat · written to disk FIRST · 202 receipt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72200" y="1956816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2560320"/>
            <a:ext cx="2743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0" y="21031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ladder finds a way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→ tower → mesh neighbor → or wait as an island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006840" y="1956816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57400" y="32461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classifies &amp; routes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+ AI → the RIGHT guilds: flood + hospital + workforce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3099816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703320"/>
            <a:ext cx="2743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892040" y="32461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Responders are buzzed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guild inboxes light up · Webex card on phones for critical cases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3099816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52360" y="3703320"/>
            <a:ext cx="2743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726680" y="32461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flows back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resolves → delivery board closes → citizen's pod sees 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89520" y="3099816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424160" y="3017520"/>
            <a:ext cx="0" cy="109728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3337560" y="3127248"/>
            <a:ext cx="70866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3127248"/>
            <a:ext cx="0" cy="118872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5760" y="4572000"/>
            <a:ext cx="11567160" cy="1234440"/>
          </a:xfrm>
          <a:prstGeom prst="roundRect">
            <a:avLst>
              <a:gd name="adj" fmla="val 5926"/>
            </a:avLst>
          </a:prstGeom>
          <a:solidFill>
            <a:srgbClr val="0D1B2E"/>
          </a:solidFill>
          <a:ln w="22225">
            <a:solidFill>
              <a:srgbClr val="3ECF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636008"/>
            <a:ext cx="1134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FLOW — THE EOC COMMAND CENTER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4983480"/>
            <a:ext cx="338328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truth, live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map: modes, queues, links, island pods — updated the second reality changes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43400" y="4983480"/>
            <a:ext cx="338328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&amp; heal the network on stage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“Fail Satellite” stops the real container — failover happens in front of the judges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46720" y="4983480"/>
            <a:ext cx="361188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signed evacuation orders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+ anti-replay — forgeries bounce off pods and are reported as security events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23360" y="5321808"/>
            <a:ext cx="320040" cy="0"/>
          </a:xfrm>
          <a:prstGeom prst="line">
            <a:avLst/>
          </a:prstGeom>
          <a:noFill/>
          <a:ln w="22225">
            <a:solidFill>
              <a:srgbClr val="3ECFC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726680" y="5321808"/>
            <a:ext cx="320040" cy="0"/>
          </a:xfrm>
          <a:prstGeom prst="line">
            <a:avLst/>
          </a:prstGeom>
          <a:noFill/>
          <a:ln w="22225">
            <a:solidFill>
              <a:srgbClr val="3ECFC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65760" y="6035040"/>
            <a:ext cx="1156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arrow above is a working API call in the repo — the demo runs this exact flow end-to-end.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CISCO-POWERED ARCHITECTURE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7589520" cy="3291840"/>
          </a:xfrm>
          <a:prstGeom prst="roundRect">
            <a:avLst>
              <a:gd name="adj" fmla="val 2222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841248"/>
            <a:ext cx="7370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(every hop = a Cisco role)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9BD1F5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3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on Meraki MR-class captive Wi-Fi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48840" y="1234440"/>
            <a:ext cx="1737360" cy="1234440"/>
          </a:xfrm>
          <a:prstGeom prst="roundRect">
            <a:avLst>
              <a:gd name="adj" fmla="val 3704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POD ×10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IR1800 + IOx runs our Node agent · triage · JSONL queue · MT30 button gate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1737360" cy="1234440"/>
          </a:xfrm>
          <a:prstGeom prst="roundRect">
            <a:avLst>
              <a:gd name="adj" fmla="val 3704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TIERS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satellite · Meraki MG-class cellular ×2 — latency + loss physics on every crossing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234440"/>
            <a:ext cx="1691640" cy="1234440"/>
          </a:xfrm>
          <a:prstGeom prst="roundRect">
            <a:avLst>
              <a:gd name="adj" fmla="val 3704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+ EOC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→ route → Ed25519 sign · AI triage (local LLM) · live dashboard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1691640"/>
            <a:ext cx="2286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86200" y="1828800"/>
            <a:ext cx="2286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52160" y="1828800"/>
            <a:ext cx="2286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148840" y="269748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3ECFC0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URWB-CLASS MESH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↔ pod relay when both uplinks die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0" y="2697480"/>
            <a:ext cx="173736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MERAKI MT SENSORS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flood/heat/air packs fire signed early warnings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80760" y="269748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WEBEX BOT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SOS → responder phones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ThousandEyes pattern: links confess “degraded” at ≥25% loss → traffic moves BEFORE the path dies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0" y="777240"/>
            <a:ext cx="3703320" cy="3291840"/>
          </a:xfrm>
          <a:prstGeom prst="roundRect">
            <a:avLst>
              <a:gd name="adj" fmla="val 2222"/>
            </a:avLst>
          </a:prstGeom>
          <a:solidFill>
            <a:srgbClr val="0D1B2E"/>
          </a:solidFill>
          <a:ln w="22225">
            <a:solidFill>
              <a:srgbClr val="E8B3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8412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B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vs SIMULATED (declared)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1188720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4ADE8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Cisco integrations</a:t>
            </a:r>
            <a:endParaRPr lang="en-US" sz="900" dirty="0"/>
          </a:p>
          <a:p>
            <a:pPr marL="0" indent="0" algn="ctr">
              <a:buNone/>
            </a:pPr>
            <a:r>
              <a:rPr lang="en-US" sz="73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Meraki Dashboard API (live MT telemetry) · Catalyst 8000v RESTCONF (config pushed &amp; verified) · Webex bot (live phone alerts)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2240280"/>
            <a:ext cx="3337560" cy="822960"/>
          </a:xfrm>
          <a:prstGeom prst="roundRect">
            <a:avLst>
              <a:gd name="adj" fmla="val 5556"/>
            </a:avLst>
          </a:prstGeom>
          <a:solidFill>
            <a:srgbClr val="10253C"/>
          </a:solidFill>
          <a:ln w="15875">
            <a:solidFill>
              <a:srgbClr val="E8B33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with a named seam</a:t>
            </a:r>
            <a:endParaRPr lang="en-US" sz="900" dirty="0"/>
          </a:p>
          <a:p>
            <a:pPr marL="0" indent="0" algn="ctr">
              <a:buNone/>
            </a:pPr>
            <a:r>
              <a:rPr lang="en-US" sz="73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physics · MT sensor fleet (same JSON contract as the real webhook) · synthetic SOS data — all clearly labeled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3200400"/>
            <a:ext cx="333756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BLUEPRINT</a:t>
            </a:r>
            <a:endParaRPr lang="en-US" sz="900" dirty="0"/>
          </a:p>
          <a:p>
            <a:pPr marL="0" indent="0" algn="ctr">
              <a:buNone/>
            </a:pPr>
            <a:r>
              <a:rPr lang="en-US" sz="73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IR1800/IOx · IW9167E · URWB (+drones) · IXM-LPWA LoRa · SD-WAN · ThousandEyes · RedSky E911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343400"/>
            <a:ext cx="11567160" cy="1645920"/>
          </a:xfrm>
          <a:prstGeom prst="roundRect">
            <a:avLst>
              <a:gd name="adj" fmla="val 4444"/>
            </a:avLst>
          </a:prstGeom>
          <a:solidFill>
            <a:srgbClr val="0D1B2E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407408"/>
            <a:ext cx="1134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CALLOUTS — WHY THIS SCORES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800600"/>
            <a:ext cx="2651760" cy="960120"/>
          </a:xfrm>
          <a:prstGeom prst="roundRect">
            <a:avLst>
              <a:gd name="adj" fmla="val 476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BACKEND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Docker services, real data flow end-to-end — not a frontend mock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4800600"/>
            <a:ext cx="2651760" cy="960120"/>
          </a:xfrm>
          <a:prstGeom prst="roundRect">
            <a:avLst>
              <a:gd name="adj" fmla="val 476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PROVEN, NOT PROMISED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suites pass: failover, forgery rejection, rate-limit, batch sync, AI chain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4800600"/>
            <a:ext cx="2651760" cy="960120"/>
          </a:xfrm>
          <a:prstGeom prst="roundRect">
            <a:avLst>
              <a:gd name="adj" fmla="val 476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SUBMISSION-COMPLETE REPO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· 1–2 page ADR · 4 architecture diagrams · demo code (private, admin invited)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281160" y="4800600"/>
            <a:ext cx="2377440" cy="960120"/>
          </a:xfrm>
          <a:prstGeom prst="roundRect">
            <a:avLst>
              <a:gd name="adj" fmla="val 476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BY DESIGN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services · add a pod = add a container · same seams accept real hardware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6172200"/>
            <a:ext cx="1156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 demo video: project name · repo URL · concept &amp; value · tech stack (Node/React/MongoDB/Ollama/Docker + Cisco APIs) · live core-workflow walkthrough.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CLIENT → CLOUD → COORDINATORS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34072" y="642133"/>
            <a:ext cx="274320" cy="0"/>
          </a:xfrm>
          <a:prstGeom prst="line">
            <a:avLst/>
          </a:prstGeom>
          <a:noFill/>
          <a:ln w="3175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90688" y="4975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 / SOS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869680" y="643439"/>
            <a:ext cx="274320" cy="0"/>
          </a:xfrm>
          <a:prstGeom prst="line">
            <a:avLst/>
          </a:prstGeom>
          <a:noFill/>
          <a:ln w="3175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0" y="4975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control / fail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332720" y="617686"/>
            <a:ext cx="274320" cy="0"/>
          </a:xfrm>
          <a:prstGeom prst="line">
            <a:avLst/>
          </a:prstGeom>
          <a:noFill/>
          <a:ln w="31750">
            <a:solidFill>
              <a:srgbClr val="3ECF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689336" y="497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mesh / offline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" y="1152704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9BD1F5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16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CITIZEN / CLIENT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1331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SOS via phone on captive Wi-Fi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" y="265176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SENSOR-SIMULATOR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Meraki MT fleet ×15 · 4s ticks · MT30 buttons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74520" y="777240"/>
            <a:ext cx="2697480" cy="3794760"/>
          </a:xfrm>
          <a:prstGeom prst="roundRect">
            <a:avLst>
              <a:gd name="adj" fmla="val 2712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84124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FIELD POD ×10  (:8001-8010)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57400" y="11887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React Citizen UI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captive portal · 11 languages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57400" y="1847088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OFFLINE TRIAGE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severity 9/6/3 · keyword match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2505456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JSONL LOCAL QUEUE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write-before-send · island-proof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57400" y="3163824"/>
            <a:ext cx="233172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SYNCWORKER + GOSSIP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5s ladder · batch &gt;3 · BGP-style hops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57400" y="39502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Shield: Ed25519 verify · hazard packs · MT30 route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74520" y="4892040"/>
            <a:ext cx="269748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3ECFC0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POD ↔ POD MESH (URWB)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gossip 2s · relayTrail · never revisit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07391" y="740664"/>
            <a:ext cx="2194560" cy="2880360"/>
          </a:xfrm>
          <a:prstGeom prst="roundRect">
            <a:avLst>
              <a:gd name="adj" fmla="val 3333"/>
            </a:avLst>
          </a:prstGeom>
          <a:solidFill>
            <a:srgbClr val="0D1B2E"/>
          </a:solidFill>
          <a:ln w="22225">
            <a:solidFill>
              <a:srgbClr val="E8B3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6847" y="832103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8B33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LINK LAYER (physics)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93792" y="1188720"/>
            <a:ext cx="1865376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SATELLITE :9100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80ms · loss dice · degraded ≥25%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93792" y="2011680"/>
            <a:ext cx="1865376" cy="640080"/>
          </a:xfrm>
          <a:prstGeom prst="roundRect">
            <a:avLst>
              <a:gd name="adj" fmla="val 714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CELLTOWER-1 :9201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30ms · loss dice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93792" y="2743200"/>
            <a:ext cx="1865376" cy="640080"/>
          </a:xfrm>
          <a:prstGeom prst="roundRect">
            <a:avLst>
              <a:gd name="adj" fmla="val 714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CELLTOWER-2 :9202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30ms · loss dice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0" y="411480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10253C"/>
          </a:solidFill>
          <a:ln w="15875">
            <a:solidFill>
              <a:srgbClr val="E05252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SIMULATION-CONTROLLER :9300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docker stop/start real links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35240" y="777240"/>
            <a:ext cx="2148840" cy="4023360"/>
          </a:xfrm>
          <a:prstGeom prst="roundRect">
            <a:avLst>
              <a:gd name="adj" fmla="val 3404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813814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CLOUD-API :9000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90688" y="11887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STORE · CLASSIFY · ROUTE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dedup · severity-max · Ed25519 sign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90688" y="2212848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MONGODB ARCHIVE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memory fallback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90688" y="2871216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AI TRIAGE (Ollama)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upgrade-only · never blocks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790688" y="3529584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WEBEX BOT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critical → responder phones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195560" y="1147851"/>
            <a:ext cx="1828800" cy="1234440"/>
          </a:xfrm>
          <a:prstGeom prst="roundRect">
            <a:avLst>
              <a:gd name="adj" fmla="val 3704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COMMAND-CENTER :9400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EOC dashboard · Socket.io realtime · infra fail/restore controls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49440" y="4983480"/>
            <a:ext cx="4983480" cy="1554480"/>
          </a:xfrm>
          <a:prstGeom prst="roundRect">
            <a:avLst>
              <a:gd name="adj" fmla="val 4706"/>
            </a:avLst>
          </a:prstGeom>
          <a:solidFill>
            <a:srgbClr val="0D1B2E"/>
          </a:solidFill>
          <a:ln w="22225">
            <a:solidFill>
              <a:srgbClr val="3ECF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96428" y="5074920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ECFC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COORDINATORS ×9 (Guild Halls :8000)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1403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HOSPITAL ×2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beds · O2 · amb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07415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FIRE ×1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pumps · kits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03427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SHELTER ×3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food · water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99439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WORKFORCE ×2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crews · transport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95451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FLOOD ×1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boats · jackets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371600" y="1554480"/>
            <a:ext cx="6858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241065" y="12893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 flipV="1">
            <a:off x="1463040" y="3017517"/>
            <a:ext cx="59436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228843" y="3072383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readings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572000" y="1527048"/>
            <a:ext cx="62179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348813" y="1280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/forward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572000" y="2331720"/>
            <a:ext cx="62179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059167" y="1527048"/>
            <a:ext cx="566927" cy="9144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223760" y="1298448"/>
            <a:ext cx="557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059168" y="2331720"/>
            <a:ext cx="57607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059168" y="3063240"/>
            <a:ext cx="57607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811512" y="1399030"/>
            <a:ext cx="384048" cy="1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9646920" y="11612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 flipH="1">
            <a:off x="9784080" y="1920240"/>
            <a:ext cx="3200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9710928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1018520" y="2423160"/>
            <a:ext cx="0" cy="210312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7223760" y="4526280"/>
            <a:ext cx="3794760" cy="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7955280" y="4251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E0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fail / restore  (x-infra-token)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 flipV="1">
            <a:off x="6126480" y="3657600"/>
            <a:ext cx="0" cy="45720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635508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E0525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docker stop/start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686800" y="4800600"/>
            <a:ext cx="0" cy="18288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7571232" y="47914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deliveries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 flipV="1">
            <a:off x="9418320" y="4800600"/>
            <a:ext cx="0" cy="18288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9491472" y="47914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resolutions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200400" y="4572000"/>
            <a:ext cx="0" cy="320040"/>
          </a:xfrm>
          <a:prstGeom prst="line">
            <a:avLst/>
          </a:prstGeom>
          <a:noFill/>
          <a:ln w="22225">
            <a:solidFill>
              <a:srgbClr val="3ECFC0"/>
            </a:solidFill>
            <a:prstDash val="dash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72000" y="5230368"/>
            <a:ext cx="2377440" cy="530352"/>
          </a:xfrm>
          <a:prstGeom prst="line">
            <a:avLst/>
          </a:prstGeom>
          <a:noFill/>
          <a:ln w="22225">
            <a:solidFill>
              <a:srgbClr val="3ECFC0"/>
            </a:solidFill>
            <a:prstDash val="dash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4709160" y="5742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ECFC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direct URWB shout (offline)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28600" y="59436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C9D6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Every EOC ↔ pod byte crosses a link-node: latency is slept, loss is diced. A link reporting “degraded” (≥25% loss) triggers predictive failover before it dies.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1176</Words>
  <Application>Microsoft Office PowerPoint</Application>
  <PresentationFormat>Widescreen</PresentationFormat>
  <Paragraphs>156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Bhawani .</cp:lastModifiedBy>
  <cp:revision>3</cp:revision>
  <dcterms:created xsi:type="dcterms:W3CDTF">2026-07-12T06:55:57Z</dcterms:created>
  <dcterms:modified xsi:type="dcterms:W3CDTF">2026-07-12T13:42:58Z</dcterms:modified>
</cp:coreProperties>
</file>