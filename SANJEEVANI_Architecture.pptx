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3021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SANJEEVANI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974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Network &amp; Application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→ Field Pod → Link Layer → Cloud API → Command Center → Coordinators → and back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932688" y="41605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FIELD PODS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538728" y="41605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LINK NODES + PHYSICS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144768" y="41605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COORDINATORS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750808" y="4160520"/>
            <a:ext cx="2286000" cy="594360"/>
          </a:xfrm>
          <a:prstGeom prst="roundRect">
            <a:avLst>
              <a:gd name="adj" fmla="val 769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DOCKER SERVICES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126480"/>
            <a:ext cx="10725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Cisco CSR Hackathon · Disaster Response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HIGH-LEVEL ARCHITECTURE — CLIENT → CLOUD → COORDINATORS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7452360" y="393192"/>
            <a:ext cx="274320" cy="0"/>
          </a:xfrm>
          <a:prstGeom prst="line">
            <a:avLst/>
          </a:prstGeom>
          <a:noFill/>
          <a:ln w="3175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0" y="31089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/ SOS</a:t>
            </a:r>
            <a:endParaRPr lang="en-US" sz="750" dirty="0"/>
          </a:p>
        </p:txBody>
      </p:sp>
      <p:sp>
        <p:nvSpPr>
          <p:cNvPr id="5" name="Shape 3"/>
          <p:cNvSpPr/>
          <p:nvPr/>
        </p:nvSpPr>
        <p:spPr>
          <a:xfrm>
            <a:off x="8869680" y="393192"/>
            <a:ext cx="274320" cy="0"/>
          </a:xfrm>
          <a:prstGeom prst="line">
            <a:avLst/>
          </a:prstGeom>
          <a:noFill/>
          <a:ln w="31750">
            <a:solidFill>
              <a:srgbClr val="E0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89720" y="3108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/ fail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10378440" y="393192"/>
            <a:ext cx="274320" cy="0"/>
          </a:xfrm>
          <a:prstGeom prst="line">
            <a:avLst/>
          </a:prstGeom>
          <a:noFill/>
          <a:ln w="31750">
            <a:solidFill>
              <a:srgbClr val="3ECFC0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10698480" y="310896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/ offline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28600" y="118872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9BD1F5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/ CLIENT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3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via phone on captive Wi-Fi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137160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SENSOR-SIMULATOR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Meraki MT fleet ×15 · 4s ticks · MT30 buttons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65961" y="768190"/>
            <a:ext cx="2697480" cy="3794760"/>
          </a:xfrm>
          <a:prstGeom prst="roundRect">
            <a:avLst>
              <a:gd name="adj" fmla="val 2712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84248" y="84124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 POD ×10  (:8001-8010)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1188720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Citizen UI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portal · 11 languages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57400" y="1847088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TRIAGE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 9/6/3 · keyword match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57400" y="2505456"/>
            <a:ext cx="2331720" cy="566928"/>
          </a:xfrm>
          <a:prstGeom prst="roundRect">
            <a:avLst>
              <a:gd name="adj" fmla="val 8065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JSONL LOCAL QUEUE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write-before-send · island-proof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3163824"/>
            <a:ext cx="233172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SYNCWORKER + GOSSIP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5s ladder · batch &gt;3 · BGP-style hops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057400" y="395020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Shield: Ed25519 verify · hazard packs · MT30 route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874520" y="4892040"/>
            <a:ext cx="269748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3ECFC0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↔ POD MESH (URWB)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 2s · relayTrail · never revisit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52644" y="786384"/>
            <a:ext cx="2194560" cy="2880360"/>
          </a:xfrm>
          <a:prstGeom prst="roundRect">
            <a:avLst>
              <a:gd name="adj" fmla="val 3333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20" name="Text 18"/>
          <p:cNvSpPr/>
          <p:nvPr/>
        </p:nvSpPr>
        <p:spPr>
          <a:xfrm>
            <a:off x="5330952" y="822959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LAYER (physics)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85816" y="1188720"/>
            <a:ext cx="1865376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:9100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80ms · loss dice · degraded ≥25%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58384" y="2002535"/>
            <a:ext cx="1865376" cy="640080"/>
          </a:xfrm>
          <a:prstGeom prst="roundRect">
            <a:avLst>
              <a:gd name="adj" fmla="val 714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CELLTOWER-1 :9201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30ms · loss dice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58384" y="2743200"/>
            <a:ext cx="1865376" cy="640080"/>
          </a:xfrm>
          <a:prstGeom prst="roundRect">
            <a:avLst>
              <a:gd name="adj" fmla="val 714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CELLTOWER-2 :9202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30ms · loss dice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411480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SIMULATION-CONTROLLER :9300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stop/start real links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35240" y="777240"/>
            <a:ext cx="2148840" cy="4023360"/>
          </a:xfrm>
          <a:prstGeom prst="roundRect">
            <a:avLst>
              <a:gd name="adj" fmla="val 3404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44968" y="841248"/>
            <a:ext cx="1929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 :9000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90688" y="11887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· CLASSIFY · ROUTE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· severity-max · Ed25519 sign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90688" y="2212848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ARCHIVE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fallback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90688" y="2871216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TRIAGE (Ollama)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upgrade-only · never blocks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90688" y="3529584"/>
            <a:ext cx="182880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BOT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→ responder phones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104120" y="1188720"/>
            <a:ext cx="1828800" cy="1234440"/>
          </a:xfrm>
          <a:prstGeom prst="roundRect">
            <a:avLst>
              <a:gd name="adj" fmla="val 3704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COMMAND-CENTER :9400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dashboard · Socket.io realtime · infra fail/restore controls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949440" y="4983480"/>
            <a:ext cx="4983480" cy="1554480"/>
          </a:xfrm>
          <a:prstGeom prst="roundRect">
            <a:avLst>
              <a:gd name="adj" fmla="val 4706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59168" y="5047488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COORDINATORS ×9 (Guild Halls :8000)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1403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×2</a:t>
            </a:r>
            <a:endParaRPr lang="en-US" sz="8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beds · O2 · amb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07415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 ×1</a:t>
            </a:r>
            <a:endParaRPr lang="en-US" sz="8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pumps · kits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03427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SHELTER ×3</a:t>
            </a:r>
            <a:endParaRPr lang="en-US" sz="8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· water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99439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WORKFORCE ×2</a:t>
            </a:r>
            <a:endParaRPr lang="en-US" sz="8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crews · transport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0954512" y="5440680"/>
            <a:ext cx="86868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FLOOD ×1</a:t>
            </a:r>
            <a:endParaRPr lang="en-US" sz="8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boats · jackets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600200" y="1554480"/>
            <a:ext cx="4572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481328" y="12984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600200" y="3017520"/>
            <a:ext cx="4572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1371600" y="3090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572000" y="1527048"/>
            <a:ext cx="62179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4443984" y="12710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/forward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4572000" y="2331720"/>
            <a:ext cx="62179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059168" y="152704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7114032" y="127101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059168" y="2331720"/>
            <a:ext cx="57607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7059168" y="3063240"/>
            <a:ext cx="576072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784080" y="141732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9646920" y="11612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 flipH="1">
            <a:off x="9784080" y="1920240"/>
            <a:ext cx="3200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9710928" y="1993392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11018520" y="2423160"/>
            <a:ext cx="0" cy="210312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7223760" y="4526280"/>
            <a:ext cx="379476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56" name="Text 54"/>
          <p:cNvSpPr/>
          <p:nvPr/>
        </p:nvSpPr>
        <p:spPr>
          <a:xfrm>
            <a:off x="7955280" y="425196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/ restore  (x-infra-token)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 flipV="1">
            <a:off x="6126480" y="3657600"/>
            <a:ext cx="0" cy="45720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355080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stop/start</a:t>
            </a:r>
            <a:endParaRPr lang="en-US" sz="650" dirty="0"/>
          </a:p>
        </p:txBody>
      </p:sp>
      <p:sp>
        <p:nvSpPr>
          <p:cNvPr id="59" name="Shape 57"/>
          <p:cNvSpPr/>
          <p:nvPr/>
        </p:nvSpPr>
        <p:spPr>
          <a:xfrm>
            <a:off x="8686800" y="4800600"/>
            <a:ext cx="0" cy="18288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60" name="Text 58"/>
          <p:cNvSpPr/>
          <p:nvPr/>
        </p:nvSpPr>
        <p:spPr>
          <a:xfrm>
            <a:off x="7571232" y="4791456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deliveries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 flipV="1">
            <a:off x="9418320" y="4800600"/>
            <a:ext cx="0" cy="18288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62" name="Text 60"/>
          <p:cNvSpPr/>
          <p:nvPr/>
        </p:nvSpPr>
        <p:spPr>
          <a:xfrm>
            <a:off x="9491472" y="47914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resolutions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3200400" y="4572000"/>
            <a:ext cx="0" cy="320040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4572000" y="5230368"/>
            <a:ext cx="2377440" cy="530352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65" name="Text 63"/>
          <p:cNvSpPr/>
          <p:nvPr/>
        </p:nvSpPr>
        <p:spPr>
          <a:xfrm>
            <a:off x="4709160" y="574243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URWB shout (offline)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228600" y="594360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EOC ↔ pod byte crosses a link-node: latency is slept, loss is diced. A link reporting “degraded” (≥25% loss) triggers predictive failover before it dies — and if every path falls, the JSONL queue holds the promise until one returns.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SOS FLOW — TEN STEPS, CLIENT TO CLOSURE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3246120" cy="5212080"/>
          </a:xfrm>
          <a:prstGeom prst="roundRect">
            <a:avLst>
              <a:gd name="adj" fmla="val 2254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932688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— FIELD POD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794760" y="868680"/>
            <a:ext cx="2103120" cy="5212080"/>
          </a:xfrm>
          <a:prstGeom prst="roundRect">
            <a:avLst>
              <a:gd name="adj" fmla="val 3478"/>
            </a:avLst>
          </a:prstGeom>
          <a:solidFill>
            <a:srgbClr val="0D1B2E"/>
          </a:solidFill>
          <a:ln w="22225">
            <a:solidFill>
              <a:srgbClr val="E8B3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04488" y="932688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B3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LAYER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72200" y="868680"/>
            <a:ext cx="3017520" cy="5212080"/>
          </a:xfrm>
          <a:prstGeom prst="roundRect">
            <a:avLst>
              <a:gd name="adj" fmla="val 2424"/>
            </a:avLst>
          </a:prstGeom>
          <a:solidFill>
            <a:srgbClr val="0D1B2E"/>
          </a:solidFill>
          <a:ln w="22225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81928" y="932688"/>
            <a:ext cx="2798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464040" y="868680"/>
            <a:ext cx="2468880" cy="5212080"/>
          </a:xfrm>
          <a:prstGeom prst="roundRect">
            <a:avLst>
              <a:gd name="adj" fmla="val 2963"/>
            </a:avLst>
          </a:prstGeom>
          <a:solidFill>
            <a:srgbClr val="0D1B2E"/>
          </a:solidFill>
          <a:ln w="22225">
            <a:solidFill>
              <a:srgbClr val="3ECF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73768" y="932688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132588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submits SOS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captive Wi-Fi · rate-limit 6 / device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242316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triage · 11 languages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“unconscious” → severity 9 critical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52044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to JSONL queue FIRST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 to citizen — the promise is made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4617720"/>
            <a:ext cx="26974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Ladder picks a path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→ cellular → mesh → island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38528" y="210312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938528" y="320040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38528" y="429768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38912" y="117043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912" y="226771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8912" y="336499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" y="446227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023360" y="461772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physics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latency · roll loss dice · stamp forwardedBy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91840" y="500176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867912" y="446227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61772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&amp; classify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dedup · keywords → roles · criticality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0" y="352044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to coordinators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stock-aware · satellite → tower per shadow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0" y="242316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re-reads (Ollama)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upgrade-only severity · Webex if critical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500176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7680960" y="429768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7680960" y="320040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6245352" y="446227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45352" y="336499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92640" y="2423160"/>
            <a:ext cx="2011680" cy="777240"/>
          </a:xfrm>
          <a:prstGeom prst="roundRect">
            <a:avLst>
              <a:gd name="adj" fmla="val 5882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sees it live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bell → dashboard row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92640" y="352044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 acts &amp; resolves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 → resolve → event back to cloud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961120" y="2807208"/>
            <a:ext cx="73152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0698480" y="3200400"/>
            <a:ext cx="0" cy="32004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9537192" y="226771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537192" y="3364992"/>
            <a:ext cx="310896" cy="310896"/>
          </a:xfrm>
          <a:prstGeom prst="ellipse">
            <a:avLst/>
          </a:prstGeom>
          <a:solidFill>
            <a:srgbClr val="4ADE80"/>
          </a:solidFill>
          <a:ln w="1270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 flipH="1" flipV="1">
            <a:off x="8961120" y="3904488"/>
            <a:ext cx="731520" cy="210312"/>
          </a:xfrm>
          <a:prstGeom prst="line">
            <a:avLst/>
          </a:prstGeom>
          <a:noFill/>
          <a:ln w="22225">
            <a:solidFill>
              <a:srgbClr val="3ECFC0"/>
            </a:solidFill>
            <a:prstDash val="dash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726680" y="43525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closes the delivery board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hop fails, the request stays in the JSONL ledger and retries every 5 seconds — delayed, never lost.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FAILOVER LADDER — HOW A REQUEST FINDS A WAY OUT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651760" y="822960"/>
            <a:ext cx="2560320" cy="548640"/>
          </a:xfrm>
          <a:prstGeom prst="roundRect">
            <a:avLst>
              <a:gd name="adj" fmla="val 833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SOS queued in JSONL ledger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2651760" y="1645920"/>
            <a:ext cx="2560320" cy="868680"/>
          </a:xfrm>
          <a:prstGeom prst="flowChartDecision">
            <a:avLst/>
          </a:prstGeom>
          <a:solidFill>
            <a:srgbClr val="10253C"/>
          </a:solidFill>
          <a:ln w="19050">
            <a:solidFill>
              <a:srgbClr val="E8B33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SATELLITE up or degraded?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651760" y="2788920"/>
            <a:ext cx="2560320" cy="868680"/>
          </a:xfrm>
          <a:prstGeom prst="flowChartDecision">
            <a:avLst/>
          </a:prstGeom>
          <a:solidFill>
            <a:srgbClr val="10253C"/>
          </a:solidFill>
          <a:ln w="19050">
            <a:solidFill>
              <a:srgbClr val="E8B33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TOWER up or degraded?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651760" y="3931920"/>
            <a:ext cx="2560320" cy="868680"/>
          </a:xfrm>
          <a:prstGeom prst="flowChartDecision">
            <a:avLst/>
          </a:prstGeom>
          <a:solidFill>
            <a:srgbClr val="10253C"/>
          </a:solidFill>
          <a:ln w="19050">
            <a:solidFill>
              <a:srgbClr val="E8B339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GOSSIP: neighbor with a cloud path?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651760" y="5074920"/>
            <a:ext cx="25603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ISLAND MODE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locally · nothing is lost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6459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via SATELLITE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80ms · loss dice · 503 = retry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27889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via CELLTOWER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sleep 30ms · loss dice · stamp link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760720" y="3931920"/>
            <a:ext cx="274320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Mesh relay to neighbor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/api/mesh/inbox · +relayTrail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418320" y="2606040"/>
            <a:ext cx="2377440" cy="1051560"/>
          </a:xfrm>
          <a:prstGeom prst="flowChartTerminator">
            <a:avLst/>
          </a:prstGeom>
          <a:solidFill>
            <a:srgbClr val="10253C"/>
          </a:solidFill>
          <a:ln w="2222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 STORES</a:t>
            </a:r>
            <a:endParaRPr lang="en-US" sz="11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returns → only then delete from queue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1371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931920" y="2514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069080" y="2560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down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931920" y="3657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069080" y="370332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/ down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3931920" y="4800600"/>
            <a:ext cx="0" cy="27432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069080" y="484632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neighbor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5212080" y="2075688"/>
            <a:ext cx="5486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5138928" y="18196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212080" y="3218688"/>
            <a:ext cx="5486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5138928" y="296265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5212080" y="4361688"/>
            <a:ext cx="54864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074920" y="410565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(&lt;12 hops)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8503920" y="2075688"/>
            <a:ext cx="914400" cy="758952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8503920" y="3154680"/>
            <a:ext cx="914400" cy="6400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8503920" y="3474720"/>
            <a:ext cx="914400" cy="88696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49640" y="41605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neighbor's ladder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 flipH="1">
            <a:off x="2148840" y="5440680"/>
            <a:ext cx="50292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2148840" y="2075688"/>
            <a:ext cx="0" cy="3364992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48840" y="2075688"/>
            <a:ext cx="50292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320040" y="338328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retry every 5s · wake on health-change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760720" y="5074920"/>
            <a:ext cx="6035040" cy="914400"/>
          </a:xfrm>
          <a:prstGeom prst="roundRect">
            <a:avLst>
              <a:gd name="adj" fmla="val 5000"/>
            </a:avLst>
          </a:prstGeom>
          <a:solidFill>
            <a:srgbClr val="10253C"/>
          </a:solidFill>
          <a:ln w="15875">
            <a:solidFill>
              <a:srgbClr val="4ADE80"/>
            </a:solidFill>
            <a:prstDash val="dash"/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RESTORE — THE CONVOY</a:t>
            </a:r>
            <a:endParaRPr lang="en-US" sz="95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&gt; 3 rides ONE batched transmission (one latency payment). Receipt-based deletion: nothing leaves the ledger without the cloud's receipt.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46304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SIGNED ALERT BROADCAST &amp; THE RETURN PATHS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274320" y="1188720"/>
            <a:ext cx="1737360" cy="822960"/>
          </a:xfrm>
          <a:prstGeom prst="roundRect">
            <a:avLst>
              <a:gd name="adj" fmla="val 5556"/>
            </a:avLst>
          </a:prstGeom>
          <a:solidFill>
            <a:srgbClr val="9BD1F5"/>
          </a:solidFill>
          <a:ln w="19050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1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EOC OPERATOR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1331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evacuation order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118872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COMMAND-CENTER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/api/broadcast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663440" y="1051560"/>
            <a:ext cx="2377440" cy="1097280"/>
          </a:xfrm>
          <a:prstGeom prst="roundRect">
            <a:avLst>
              <a:gd name="adj" fmla="val 41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 — THE HERALD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seq++ · canonical JSON · Ed25519 sign · fan-out to all 10 pods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863840" y="82296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POD-01 · Shield verify</a:t>
            </a:r>
            <a:endParaRPr lang="en-US" sz="10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· seq · scope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863840" y="169164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POD-02 · Shield verify</a:t>
            </a:r>
            <a:endParaRPr lang="en-US" sz="10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 · seq · scope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63840" y="256032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POD-03 … POD-10</a:t>
            </a:r>
            <a:endParaRPr lang="en-US" sz="100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ritual at every gate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0" y="1097280"/>
            <a:ext cx="187452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4ADE80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· siren · UI banner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0" y="2514600"/>
            <a:ext cx="187452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E05252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FORGED → 401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replay / bad signature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11680" y="1600200"/>
            <a:ext cx="36576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06240" y="1600200"/>
            <a:ext cx="457200" cy="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V="1">
            <a:off x="7040880" y="1161288"/>
            <a:ext cx="822960" cy="210312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600200"/>
            <a:ext cx="822960" cy="42976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040880" y="1828800"/>
            <a:ext cx="822960" cy="106984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6903720" y="8961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/api/alerts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9692640" y="1161288"/>
            <a:ext cx="365760" cy="210312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9692640" y="1645920"/>
            <a:ext cx="365760" cy="384048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9692640" y="2880360"/>
            <a:ext cx="365760" cy="18288"/>
          </a:xfrm>
          <a:prstGeom prst="line">
            <a:avLst/>
          </a:prstGeom>
          <a:noFill/>
          <a:ln w="22225">
            <a:solidFill>
              <a:srgbClr val="E05252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972800" y="3246120"/>
            <a:ext cx="0" cy="822960"/>
          </a:xfrm>
          <a:prstGeom prst="line">
            <a:avLst/>
          </a:prstGeom>
          <a:noFill/>
          <a:ln w="22225">
            <a:solidFill>
              <a:srgbClr val="E0525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 flipH="1">
            <a:off x="4434840" y="4069080"/>
            <a:ext cx="653796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 flipV="1">
            <a:off x="4434840" y="2011680"/>
            <a:ext cx="0" cy="2057400"/>
          </a:xfrm>
          <a:prstGeom prst="line">
            <a:avLst/>
          </a:prstGeom>
          <a:noFill/>
          <a:ln w="22225">
            <a:solidFill>
              <a:srgbClr val="E0525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4434840" y="2011680"/>
            <a:ext cx="228600" cy="0"/>
          </a:xfrm>
          <a:prstGeom prst="line">
            <a:avLst/>
          </a:prstGeom>
          <a:noFill/>
          <a:ln w="22225">
            <a:solidFill>
              <a:srgbClr val="E05252"/>
            </a:solidFill>
            <a:prstDash val="dash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7223760" y="41148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E0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event rides the normal SOS ladder back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3440" y="3017520"/>
            <a:ext cx="2377440" cy="731520"/>
          </a:xfrm>
          <a:prstGeom prst="roundRect">
            <a:avLst>
              <a:gd name="adj" fmla="val 6250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WEBEX · Sanjeevni-Sentinel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responder phones · 6/min · dedup by id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52160" y="2148840"/>
            <a:ext cx="0" cy="868680"/>
          </a:xfrm>
          <a:prstGeom prst="line">
            <a:avLst/>
          </a:prstGeom>
          <a:noFill/>
          <a:ln w="22225">
            <a:solidFill>
              <a:srgbClr val="4ADE80"/>
            </a:solidFill>
            <a:prstDash val="solid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5989320" y="2395728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alerts</a:t>
            </a:r>
            <a:endParaRPr lang="en-US" sz="650" dirty="0"/>
          </a:p>
        </p:txBody>
      </p:sp>
      <p:sp>
        <p:nvSpPr>
          <p:cNvPr id="28" name="Text 26"/>
          <p:cNvSpPr/>
          <p:nvPr/>
        </p:nvSpPr>
        <p:spPr>
          <a:xfrm>
            <a:off x="27432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ECF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RETURN PATH — FIELD REALITY BACK TO THE EOC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COORDINATOR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acknowledges / resolves in the field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26080" y="489204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LINK-NODE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/api/forward/* · same physics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212080" y="4892040"/>
            <a:ext cx="265176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CLOUD-API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→ resolved · request.resolutions updated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21040" y="4892040"/>
            <a:ext cx="3291840" cy="868680"/>
          </a:xfrm>
          <a:prstGeom prst="roundRect">
            <a:avLst>
              <a:gd name="adj" fmla="val 5263"/>
            </a:avLst>
          </a:prstGeom>
          <a:solidFill>
            <a:srgbClr val="10253C"/>
          </a:solidFill>
          <a:ln w="15875">
            <a:solidFill>
              <a:srgbClr val="FFFFFF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— CASE CLOSED</a:t>
            </a:r>
            <a:endParaRPr lang="en-US" sz="1000" dirty="0"/>
          </a:p>
          <a:p>
            <a:pPr marL="0" indent="0" algn="ctr">
              <a:buNone/>
            </a:pPr>
            <a:r>
              <a:rPr lang="en-US" sz="750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· shortage steering updates routing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5321808"/>
            <a:ext cx="45720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4754880" y="5321808"/>
            <a:ext cx="45720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863840" y="5321808"/>
            <a:ext cx="457200" cy="0"/>
          </a:xfrm>
          <a:prstGeom prst="line">
            <a:avLst/>
          </a:prstGeom>
          <a:noFill/>
          <a:ln w="22225">
            <a:solidFill>
              <a:srgbClr val="3ECFC0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74320" y="6172200"/>
            <a:ext cx="1161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9D6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security (SD-WAN IPsec) and message security (Ed25519) are independent layers — a compromised pipe still cannot forge an evacuation order.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848</Words>
  <Application>Microsoft Office PowerPoint</Application>
  <PresentationFormat>Widescreen</PresentationFormat>
  <Paragraphs>170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Bhawani .</cp:lastModifiedBy>
  <cp:revision>2</cp:revision>
  <dcterms:created xsi:type="dcterms:W3CDTF">2026-07-11T13:23:40Z</dcterms:created>
  <dcterms:modified xsi:type="dcterms:W3CDTF">2026-07-11T13:29:35Z</dcterms:modified>
</cp:coreProperties>
</file>